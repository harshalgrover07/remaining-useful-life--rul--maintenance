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embeddedFontLst>
    <p:embeddedFont>
      <p:font typeface="Int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AxggawpzTab/2LWQ5B4ZNA9dJ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Inter-italic.fntdata"/><Relationship Id="rId6" Type="http://schemas.openxmlformats.org/officeDocument/2006/relationships/slide" Target="slides/slide2.xml"/><Relationship Id="rId18" Type="http://schemas.openxmlformats.org/officeDocument/2006/relationships/font" Target="fonts/Inter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44.png"/><Relationship Id="rId6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10" Type="http://schemas.openxmlformats.org/officeDocument/2006/relationships/image" Target="../media/image23.png"/><Relationship Id="rId9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33.png"/><Relationship Id="rId13" Type="http://schemas.openxmlformats.org/officeDocument/2006/relationships/image" Target="../media/image30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41.png"/><Relationship Id="rId5" Type="http://schemas.openxmlformats.org/officeDocument/2006/relationships/image" Target="../media/image3.png"/><Relationship Id="rId6" Type="http://schemas.openxmlformats.org/officeDocument/2006/relationships/image" Target="../media/image22.png"/><Relationship Id="rId7" Type="http://schemas.openxmlformats.org/officeDocument/2006/relationships/image" Target="../media/image12.png"/><Relationship Id="rId8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20.png"/><Relationship Id="rId13" Type="http://schemas.openxmlformats.org/officeDocument/2006/relationships/image" Target="../media/image32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22.png"/><Relationship Id="rId7" Type="http://schemas.openxmlformats.org/officeDocument/2006/relationships/image" Target="../media/image36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49.png"/><Relationship Id="rId5" Type="http://schemas.openxmlformats.org/officeDocument/2006/relationships/image" Target="../media/image39.png"/><Relationship Id="rId6" Type="http://schemas.openxmlformats.org/officeDocument/2006/relationships/image" Target="../media/image53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67.png"/><Relationship Id="rId11" Type="http://schemas.openxmlformats.org/officeDocument/2006/relationships/image" Target="../media/image45.png"/><Relationship Id="rId22" Type="http://schemas.openxmlformats.org/officeDocument/2006/relationships/image" Target="../media/image56.png"/><Relationship Id="rId10" Type="http://schemas.openxmlformats.org/officeDocument/2006/relationships/image" Target="../media/image46.png"/><Relationship Id="rId21" Type="http://schemas.openxmlformats.org/officeDocument/2006/relationships/image" Target="../media/image81.png"/><Relationship Id="rId13" Type="http://schemas.openxmlformats.org/officeDocument/2006/relationships/image" Target="../media/image40.png"/><Relationship Id="rId12" Type="http://schemas.openxmlformats.org/officeDocument/2006/relationships/image" Target="../media/image55.png"/><Relationship Id="rId23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1.png"/><Relationship Id="rId4" Type="http://schemas.openxmlformats.org/officeDocument/2006/relationships/image" Target="../media/image42.png"/><Relationship Id="rId9" Type="http://schemas.openxmlformats.org/officeDocument/2006/relationships/image" Target="../media/image38.png"/><Relationship Id="rId15" Type="http://schemas.openxmlformats.org/officeDocument/2006/relationships/image" Target="../media/image48.png"/><Relationship Id="rId14" Type="http://schemas.openxmlformats.org/officeDocument/2006/relationships/image" Target="../media/image43.png"/><Relationship Id="rId17" Type="http://schemas.openxmlformats.org/officeDocument/2006/relationships/image" Target="../media/image63.png"/><Relationship Id="rId16" Type="http://schemas.openxmlformats.org/officeDocument/2006/relationships/image" Target="../media/image59.png"/><Relationship Id="rId5" Type="http://schemas.openxmlformats.org/officeDocument/2006/relationships/image" Target="../media/image35.png"/><Relationship Id="rId19" Type="http://schemas.openxmlformats.org/officeDocument/2006/relationships/image" Target="../media/image54.png"/><Relationship Id="rId6" Type="http://schemas.openxmlformats.org/officeDocument/2006/relationships/image" Target="../media/image47.png"/><Relationship Id="rId18" Type="http://schemas.openxmlformats.org/officeDocument/2006/relationships/image" Target="../media/image80.png"/><Relationship Id="rId7" Type="http://schemas.openxmlformats.org/officeDocument/2006/relationships/image" Target="../media/image34.png"/><Relationship Id="rId8" Type="http://schemas.openxmlformats.org/officeDocument/2006/relationships/image" Target="../media/image84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60.png"/><Relationship Id="rId9" Type="http://schemas.openxmlformats.org/officeDocument/2006/relationships/image" Target="../media/image73.png"/><Relationship Id="rId5" Type="http://schemas.openxmlformats.org/officeDocument/2006/relationships/image" Target="../media/image68.png"/><Relationship Id="rId6" Type="http://schemas.openxmlformats.org/officeDocument/2006/relationships/image" Target="../media/image74.png"/><Relationship Id="rId7" Type="http://schemas.openxmlformats.org/officeDocument/2006/relationships/image" Target="../media/image65.png"/><Relationship Id="rId8" Type="http://schemas.openxmlformats.org/officeDocument/2006/relationships/image" Target="../media/image72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78.png"/><Relationship Id="rId10" Type="http://schemas.openxmlformats.org/officeDocument/2006/relationships/image" Target="../media/image77.png"/><Relationship Id="rId13" Type="http://schemas.openxmlformats.org/officeDocument/2006/relationships/image" Target="../media/image111.png"/><Relationship Id="rId12" Type="http://schemas.openxmlformats.org/officeDocument/2006/relationships/image" Target="../media/image9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6.png"/><Relationship Id="rId4" Type="http://schemas.openxmlformats.org/officeDocument/2006/relationships/image" Target="../media/image42.png"/><Relationship Id="rId9" Type="http://schemas.openxmlformats.org/officeDocument/2006/relationships/image" Target="../media/image71.png"/><Relationship Id="rId15" Type="http://schemas.openxmlformats.org/officeDocument/2006/relationships/image" Target="../media/image96.png"/><Relationship Id="rId14" Type="http://schemas.openxmlformats.org/officeDocument/2006/relationships/image" Target="../media/image119.png"/><Relationship Id="rId16" Type="http://schemas.openxmlformats.org/officeDocument/2006/relationships/image" Target="../media/image88.png"/><Relationship Id="rId5" Type="http://schemas.openxmlformats.org/officeDocument/2006/relationships/image" Target="../media/image70.png"/><Relationship Id="rId6" Type="http://schemas.openxmlformats.org/officeDocument/2006/relationships/image" Target="../media/image76.png"/><Relationship Id="rId7" Type="http://schemas.openxmlformats.org/officeDocument/2006/relationships/image" Target="../media/image69.png"/><Relationship Id="rId8" Type="http://schemas.openxmlformats.org/officeDocument/2006/relationships/image" Target="../media/image94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93.png"/><Relationship Id="rId10" Type="http://schemas.openxmlformats.org/officeDocument/2006/relationships/image" Target="../media/image48.png"/><Relationship Id="rId13" Type="http://schemas.openxmlformats.org/officeDocument/2006/relationships/image" Target="../media/image100.png"/><Relationship Id="rId12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89.png"/><Relationship Id="rId15" Type="http://schemas.openxmlformats.org/officeDocument/2006/relationships/image" Target="../media/image62.png"/><Relationship Id="rId14" Type="http://schemas.openxmlformats.org/officeDocument/2006/relationships/image" Target="../media/image117.png"/><Relationship Id="rId5" Type="http://schemas.openxmlformats.org/officeDocument/2006/relationships/image" Target="../media/image95.png"/><Relationship Id="rId6" Type="http://schemas.openxmlformats.org/officeDocument/2006/relationships/image" Target="../media/image34.png"/><Relationship Id="rId7" Type="http://schemas.openxmlformats.org/officeDocument/2006/relationships/image" Target="../media/image87.png"/><Relationship Id="rId8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102.png"/><Relationship Id="rId12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22.png"/><Relationship Id="rId7" Type="http://schemas.openxmlformats.org/officeDocument/2006/relationships/image" Target="../media/image107.png"/><Relationship Id="rId8" Type="http://schemas.openxmlformats.org/officeDocument/2006/relationships/image" Target="../media/image124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60.png"/><Relationship Id="rId9" Type="http://schemas.openxmlformats.org/officeDocument/2006/relationships/image" Target="../media/image121.png"/><Relationship Id="rId5" Type="http://schemas.openxmlformats.org/officeDocument/2006/relationships/image" Target="../media/image113.png"/><Relationship Id="rId6" Type="http://schemas.openxmlformats.org/officeDocument/2006/relationships/image" Target="../media/image115.png"/><Relationship Id="rId7" Type="http://schemas.openxmlformats.org/officeDocument/2006/relationships/image" Target="../media/image123.png"/><Relationship Id="rId8" Type="http://schemas.openxmlformats.org/officeDocument/2006/relationships/image" Target="../media/image1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4.png"/><Relationship Id="rId4" Type="http://schemas.openxmlformats.org/officeDocument/2006/relationships/image" Target="../media/image110.png"/><Relationship Id="rId5" Type="http://schemas.openxmlformats.org/officeDocument/2006/relationships/image" Target="../media/image118.png"/><Relationship Id="rId6" Type="http://schemas.openxmlformats.org/officeDocument/2006/relationships/image" Target="../media/image122.png"/><Relationship Id="rId7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905" y="495605"/>
            <a:ext cx="533095" cy="5330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1"/>
          <p:cNvPicPr preferRelativeResize="0"/>
          <p:nvPr/>
        </p:nvPicPr>
        <p:blipFill rotWithShape="1">
          <a:blip r:embed="rId5">
            <a:alphaModFix/>
          </a:blip>
          <a:srcRect b="-397" l="0" r="0" t="-397"/>
          <a:stretch/>
        </p:blipFill>
        <p:spPr>
          <a:xfrm>
            <a:off x="3619195" y="3771900"/>
            <a:ext cx="495330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 txBox="1"/>
          <p:nvPr/>
        </p:nvSpPr>
        <p:spPr>
          <a:xfrm>
            <a:off x="1047902" y="1809598"/>
            <a:ext cx="10096805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900"/>
              <a:buFont typeface="Inter"/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Predictive Maintenance using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64922" y="2459736"/>
            <a:ext cx="12062765" cy="58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Inter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Remaining Useful Life </a:t>
            </a:r>
            <a:r>
              <a:rPr b="1" i="0" lang="en-US" sz="4000" u="none" cap="none" strike="noStrike">
                <a:solidFill>
                  <a:srgbClr val="0EA5A4"/>
                </a:solidFill>
                <a:latin typeface="Inter"/>
                <a:ea typeface="Inter"/>
                <a:cs typeface="Inter"/>
                <a:sym typeface="Inter"/>
              </a:rPr>
              <a:t>(RUL)</a:t>
            </a:r>
            <a:r>
              <a:rPr b="1" i="0" lang="en-US" sz="4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Prediction 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1752905" y="3238805"/>
            <a:ext cx="86868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Capstone Project • Business-first, safety-aware ML for industrial equipment reliability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1086307" y="4000500"/>
            <a:ext cx="10020910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1276500" y="4400986"/>
            <a:ext cx="10020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Harshal Grover 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552298" y="6324905"/>
            <a:ext cx="1108710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Prepared for faculty evaluation • Focus: uptime, cost reduction, and safety through actionable RUL insights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" name="Google Shape;2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10351" y="6048756"/>
            <a:ext cx="171907" cy="171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2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" name="Google Shape;36;p2"/>
          <p:cNvPicPr preferRelativeResize="0"/>
          <p:nvPr/>
        </p:nvPicPr>
        <p:blipFill rotWithShape="1">
          <a:blip r:embed="rId4">
            <a:alphaModFix/>
          </a:blip>
          <a:srcRect b="-399" l="0" r="0" t="-399"/>
          <a:stretch/>
        </p:blipFill>
        <p:spPr>
          <a:xfrm>
            <a:off x="761695" y="1676095"/>
            <a:ext cx="10668305" cy="19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" name="Google Shape;37;p2"/>
          <p:cNvPicPr preferRelativeResize="0"/>
          <p:nvPr/>
        </p:nvPicPr>
        <p:blipFill rotWithShape="1">
          <a:blip r:embed="rId5">
            <a:alphaModFix/>
          </a:blip>
          <a:srcRect b="0" l="-8" r="-8" t="0"/>
          <a:stretch/>
        </p:blipFill>
        <p:spPr>
          <a:xfrm>
            <a:off x="761695" y="1952244"/>
            <a:ext cx="10668305" cy="1238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" name="Google Shape;38;p2"/>
          <p:cNvPicPr preferRelativeResize="0"/>
          <p:nvPr/>
        </p:nvPicPr>
        <p:blipFill rotWithShape="1">
          <a:blip r:embed="rId6">
            <a:alphaModFix/>
          </a:blip>
          <a:srcRect b="-4" l="0" r="0" t="-4"/>
          <a:stretch/>
        </p:blipFill>
        <p:spPr>
          <a:xfrm>
            <a:off x="761695" y="3362249"/>
            <a:ext cx="10668305" cy="13908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" name="Google Shape;39;p2"/>
          <p:cNvPicPr preferRelativeResize="0"/>
          <p:nvPr/>
        </p:nvPicPr>
        <p:blipFill rotWithShape="1">
          <a:blip r:embed="rId7">
            <a:alphaModFix/>
          </a:blip>
          <a:srcRect b="0" l="-1" r="-1" t="0"/>
          <a:stretch/>
        </p:blipFill>
        <p:spPr>
          <a:xfrm>
            <a:off x="761695" y="4924044"/>
            <a:ext cx="10668305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Problem Definition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761695" y="1067105"/>
            <a:ext cx="107826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Why predictive maintenance is a business-critical capability for modern industrial operations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4654" y="2371954"/>
            <a:ext cx="247802" cy="24780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 txBox="1"/>
          <p:nvPr/>
        </p:nvSpPr>
        <p:spPr>
          <a:xfrm>
            <a:off x="1600200" y="2171700"/>
            <a:ext cx="97155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Unplanned failures are expensive and disruptive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1600200" y="2478938"/>
            <a:ext cx="1028700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Unexpected breakdowns lead to production downtime, emergency repairs, safety risks, and missed delivery commitments.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23798" y="38669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 txBox="1"/>
          <p:nvPr/>
        </p:nvSpPr>
        <p:spPr>
          <a:xfrm>
            <a:off x="1600200" y="3581705"/>
            <a:ext cx="944941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Fixed-schedule preventive maintenance wastes resources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1600200" y="3888943"/>
            <a:ext cx="9411005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Replacing parts on a calendar basis often discards healthy components, increases labor cost, and adds unnecessary planned downtime.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" name="Google Shape;48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23798" y="539130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 txBox="1"/>
          <p:nvPr/>
        </p:nvSpPr>
        <p:spPr>
          <a:xfrm>
            <a:off x="1600200" y="5143500"/>
            <a:ext cx="97155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Need: Predict Remaining Useful Life (RUL) to maintain at the right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1600200" y="5450738"/>
            <a:ext cx="967801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Estimate how many operational cycles a machine has left before failure, enabling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just-in-time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maintenance planning—neither too early nor too late.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1600200" y="6034126"/>
            <a:ext cx="97155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A7F3D0"/>
                </a:solidFill>
                <a:latin typeface="Inter"/>
                <a:ea typeface="Inter"/>
                <a:cs typeface="Inter"/>
                <a:sym typeface="Inter"/>
              </a:rPr>
              <a:t>Outcome: higher uptime • lower maintenance waste • improved safety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761695" y="6495898"/>
            <a:ext cx="107826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This project builds an ML-based RUL prediction system from multivariate sensor telemetry to support data-driven maintenance decisions.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3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" name="Google Shape;61;p3"/>
          <p:cNvPicPr preferRelativeResize="0"/>
          <p:nvPr/>
        </p:nvPicPr>
        <p:blipFill rotWithShape="1">
          <a:blip r:embed="rId4">
            <a:alphaModFix/>
          </a:blip>
          <a:srcRect b="-399" l="0" r="0" t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3"/>
          <p:cNvPicPr preferRelativeResize="0"/>
          <p:nvPr/>
        </p:nvPicPr>
        <p:blipFill rotWithShape="1">
          <a:blip r:embed="rId5">
            <a:alphaModFix/>
          </a:blip>
          <a:srcRect b="-3" l="0" r="0" t="-3"/>
          <a:stretch/>
        </p:blipFill>
        <p:spPr>
          <a:xfrm>
            <a:off x="761695" y="1867205"/>
            <a:ext cx="5219395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3"/>
          <p:cNvPicPr preferRelativeResize="0"/>
          <p:nvPr/>
        </p:nvPicPr>
        <p:blipFill rotWithShape="1">
          <a:blip r:embed="rId6">
            <a:alphaModFix/>
          </a:blip>
          <a:srcRect b="-3" l="0" r="0" t="-3"/>
          <a:stretch/>
        </p:blipFill>
        <p:spPr>
          <a:xfrm>
            <a:off x="6210605" y="1867205"/>
            <a:ext cx="5219395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" name="Google Shape;64;p3"/>
          <p:cNvPicPr preferRelativeResize="0"/>
          <p:nvPr/>
        </p:nvPicPr>
        <p:blipFill rotWithShape="1">
          <a:blip r:embed="rId7">
            <a:alphaModFix/>
          </a:blip>
          <a:srcRect b="0" l="-14" r="-14" t="0"/>
          <a:stretch/>
        </p:blipFill>
        <p:spPr>
          <a:xfrm>
            <a:off x="761695" y="5486400"/>
            <a:ext cx="1066830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Objective &amp; Value Proposition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761695" y="1047902"/>
            <a:ext cx="107826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Turning sensor telemetry into actionable maintenance decisions (business-first capstone outcome)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" name="Google Shape;67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3856" y="2276856"/>
            <a:ext cx="247802" cy="24780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 txBox="1"/>
          <p:nvPr/>
        </p:nvSpPr>
        <p:spPr>
          <a:xfrm>
            <a:off x="1600200" y="2133295"/>
            <a:ext cx="430591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Primary Objective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1047902" y="2572207"/>
            <a:ext cx="481980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Build a machine learning model to predict </a:t>
            </a:r>
            <a:r>
              <a:rPr b="1" i="0" lang="en-US" sz="1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Remaining Useful Life (RUL)</a:t>
            </a:r>
            <a:r>
              <a:rPr b="0" i="0" lang="en-US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— a continuous estimate of how many operational cycles a machine has left before failure — using multivariate sensor telemetry.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1047902" y="3372307"/>
            <a:ext cx="485820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Input signals (examples)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1047902" y="3627425"/>
            <a:ext cx="4819802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Temperature • Vibration • Pressure • Current/Voltage • RPM • Load • Ambient conditions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1047902" y="4137660"/>
            <a:ext cx="485820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Business question answered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1047902" y="4392778"/>
            <a:ext cx="4819802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“How long can we safely run this machine before maintenance becomes urgent?”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90995" y="2286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 txBox="1"/>
          <p:nvPr/>
        </p:nvSpPr>
        <p:spPr>
          <a:xfrm>
            <a:off x="7048195" y="2133295"/>
            <a:ext cx="430591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Value Delivered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24244" y="2734056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 txBox="1"/>
          <p:nvPr/>
        </p:nvSpPr>
        <p:spPr>
          <a:xfrm>
            <a:off x="6782105" y="2628900"/>
            <a:ext cx="4591202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Reduce unplanned downtime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6782105" y="2903220"/>
            <a:ext cx="459120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Detect degradation early and avoid emergency stoppages.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3"/>
          <p:cNvPicPr preferRelativeResize="0"/>
          <p:nvPr/>
        </p:nvPicPr>
        <p:blipFill rotWithShape="1">
          <a:blip r:embed="rId11">
            <a:alphaModFix/>
          </a:blip>
          <a:srcRect b="-180" l="0" r="0" t="-180"/>
          <a:stretch/>
        </p:blipFill>
        <p:spPr>
          <a:xfrm>
            <a:off x="6505956" y="3419856"/>
            <a:ext cx="1901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 txBox="1"/>
          <p:nvPr/>
        </p:nvSpPr>
        <p:spPr>
          <a:xfrm>
            <a:off x="6782105" y="3314700"/>
            <a:ext cx="4591202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Plan just-in-time maintenance &amp; inventory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6782105" y="3589020"/>
            <a:ext cx="5155387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Schedule work in planned windows; order parts only when needed.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24244" y="4105656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 txBox="1"/>
          <p:nvPr/>
        </p:nvSpPr>
        <p:spPr>
          <a:xfrm>
            <a:off x="6782105" y="4000500"/>
            <a:ext cx="4591202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Extend asset life &amp; improve safety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6782105" y="4274820"/>
            <a:ext cx="4553712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Avoid running equipment into catastrophic failure and reduce risk exposure.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3"/>
          <p:cNvPicPr preferRelativeResize="0"/>
          <p:nvPr/>
        </p:nvPicPr>
        <p:blipFill rotWithShape="1">
          <a:blip r:embed="rId13">
            <a:alphaModFix/>
          </a:blip>
          <a:srcRect b="-45" l="0" r="0" t="-45"/>
          <a:stretch/>
        </p:blipFill>
        <p:spPr>
          <a:xfrm>
            <a:off x="1110082" y="5924398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 txBox="1"/>
          <p:nvPr/>
        </p:nvSpPr>
        <p:spPr>
          <a:xfrm>
            <a:off x="1600200" y="5658307"/>
            <a:ext cx="97539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Make predictions actionable with </a:t>
            </a:r>
            <a:r>
              <a:rPr b="1" i="0" lang="en-US" sz="13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Risk Bands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1600200" y="5946343"/>
            <a:ext cx="1032540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Convert raw RUL into simple decisions for the shop floor: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CRITICAL</a:t>
            </a:r>
            <a:r>
              <a:rPr b="0" i="0" lang="en-US" sz="10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(act now) •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</a:t>
            </a:r>
            <a:r>
              <a:rPr b="0" i="0" lang="en-US" sz="10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(schedule next window) •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MEDIUM</a:t>
            </a:r>
            <a:r>
              <a:rPr b="0" i="0" lang="en-US" sz="10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(monitor) •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</a:t>
            </a:r>
            <a:r>
              <a:rPr b="0" i="0" lang="en-US" sz="10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(healthy)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1600200" y="6229807"/>
            <a:ext cx="97539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A7F3D0"/>
                </a:solidFill>
                <a:latin typeface="Inter"/>
                <a:ea typeface="Inter"/>
                <a:cs typeface="Inter"/>
                <a:sym typeface="Inter"/>
              </a:rPr>
              <a:t>Result: faster triage • fewer surprises • maintenance aligned to business priorities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4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4"/>
          <p:cNvPicPr preferRelativeResize="0"/>
          <p:nvPr/>
        </p:nvPicPr>
        <p:blipFill rotWithShape="1">
          <a:blip r:embed="rId4">
            <a:alphaModFix/>
          </a:blip>
          <a:srcRect b="-399" l="0" r="0" t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4"/>
          <p:cNvPicPr preferRelativeResize="0"/>
          <p:nvPr/>
        </p:nvPicPr>
        <p:blipFill rotWithShape="1">
          <a:blip r:embed="rId5">
            <a:alphaModFix/>
          </a:blip>
          <a:srcRect b="-3" l="0" r="0" t="-3"/>
          <a:stretch/>
        </p:blipFill>
        <p:spPr>
          <a:xfrm>
            <a:off x="761695" y="1867205"/>
            <a:ext cx="5219395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9" name="Google Shape;99;p4"/>
          <p:cNvPicPr preferRelativeResize="0"/>
          <p:nvPr/>
        </p:nvPicPr>
        <p:blipFill rotWithShape="1">
          <a:blip r:embed="rId6">
            <a:alphaModFix/>
          </a:blip>
          <a:srcRect b="-3" l="0" r="0" t="-3"/>
          <a:stretch/>
        </p:blipFill>
        <p:spPr>
          <a:xfrm>
            <a:off x="6210605" y="1867205"/>
            <a:ext cx="5219395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0" name="Google Shape;100;p4"/>
          <p:cNvPicPr preferRelativeResize="0"/>
          <p:nvPr/>
        </p:nvPicPr>
        <p:blipFill rotWithShape="1">
          <a:blip r:embed="rId7">
            <a:alphaModFix/>
          </a:blip>
          <a:srcRect b="0" l="-5" r="-5" t="0"/>
          <a:stretch/>
        </p:blipFill>
        <p:spPr>
          <a:xfrm>
            <a:off x="1047902" y="2572207"/>
            <a:ext cx="4743907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" name="Google Shape;101;p4"/>
          <p:cNvPicPr preferRelativeResize="0"/>
          <p:nvPr/>
        </p:nvPicPr>
        <p:blipFill rotWithShape="1">
          <a:blip r:embed="rId8">
            <a:alphaModFix/>
          </a:blip>
          <a:srcRect b="0" l="-14" r="-14" t="0"/>
          <a:stretch/>
        </p:blipFill>
        <p:spPr>
          <a:xfrm>
            <a:off x="761695" y="5486400"/>
            <a:ext cx="1066830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Dataset Overview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761695" y="1047902"/>
            <a:ext cx="107826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What we used, what we built, and what made this a real predictive maintenance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4"/>
          <p:cNvPicPr preferRelativeResize="0"/>
          <p:nvPr/>
        </p:nvPicPr>
        <p:blipFill rotWithShape="1">
          <a:blip r:embed="rId9">
            <a:alphaModFix/>
          </a:blip>
          <a:srcRect b="0" l="-606" r="-606" t="0"/>
          <a:stretch/>
        </p:blipFill>
        <p:spPr>
          <a:xfrm>
            <a:off x="1147572" y="2276856"/>
            <a:ext cx="219456" cy="247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 txBox="1"/>
          <p:nvPr/>
        </p:nvSpPr>
        <p:spPr>
          <a:xfrm>
            <a:off x="1600200" y="2133295"/>
            <a:ext cx="430591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at a Glance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1238098" y="2695651"/>
            <a:ext cx="4910328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EA5A4"/>
                </a:solidFill>
                <a:latin typeface="Inter"/>
                <a:ea typeface="Inter"/>
                <a:cs typeface="Inter"/>
                <a:sym typeface="Inter"/>
              </a:rPr>
              <a:t>120,000</a:t>
            </a: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records • </a:t>
            </a:r>
            <a:r>
              <a:rPr b="1" i="0" lang="en-US" sz="1300" u="none" cap="none" strike="noStrike">
                <a:solidFill>
                  <a:srgbClr val="0EA5A4"/>
                </a:solidFill>
                <a:latin typeface="Inter"/>
                <a:ea typeface="Inter"/>
                <a:cs typeface="Inter"/>
                <a:sym typeface="Inter"/>
              </a:rPr>
              <a:t>25</a:t>
            </a: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raw features • </a:t>
            </a:r>
            <a:r>
              <a:rPr b="1" i="0" lang="en-US" sz="1300" u="none" cap="none" strike="noStrike">
                <a:solidFill>
                  <a:srgbClr val="0EA5A4"/>
                </a:solidFill>
                <a:latin typeface="Inter"/>
                <a:ea typeface="Inter"/>
                <a:cs typeface="Inter"/>
                <a:sym typeface="Inter"/>
              </a:rPr>
              <a:t>35</a:t>
            </a: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engineered features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1047902" y="3276295"/>
            <a:ext cx="485820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Raw inputs included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1047902" y="3531413"/>
            <a:ext cx="48582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Machine settings + multivariate sensors: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1047902" y="3817620"/>
            <a:ext cx="4819802" cy="409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Temperature • Vibration (RMS/Peak) • Pressure • Current/Voltage • RPM • Torque • Load • Humidity • Ambient temp • Shift / mode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1047902" y="4321454"/>
            <a:ext cx="485820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Target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1047902" y="4576572"/>
            <a:ext cx="48198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Remaining Useful Life (RUL) </a:t>
            </a: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 continuous prediction of cycles remaining before failure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90995" y="2286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/>
        </p:nvSpPr>
        <p:spPr>
          <a:xfrm>
            <a:off x="7048195" y="2133295"/>
            <a:ext cx="430591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Key Data Challenges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4"/>
          <p:cNvPicPr preferRelativeResize="0"/>
          <p:nvPr/>
        </p:nvPicPr>
        <p:blipFill rotWithShape="1">
          <a:blip r:embed="rId11">
            <a:alphaModFix/>
          </a:blip>
          <a:srcRect b="-180" l="0" r="0" t="-180"/>
          <a:stretch/>
        </p:blipFill>
        <p:spPr>
          <a:xfrm>
            <a:off x="6505956" y="2734056"/>
            <a:ext cx="1901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/>
        </p:nvSpPr>
        <p:spPr>
          <a:xfrm>
            <a:off x="6782105" y="2628900"/>
            <a:ext cx="4476902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Noisy, non-linear sensor behavior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6782105" y="2903220"/>
            <a:ext cx="4439412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Machines degrade slowly, then drop sharply near failure (signal is not linear).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4"/>
          <p:cNvPicPr preferRelativeResize="0"/>
          <p:nvPr/>
        </p:nvPicPr>
        <p:blipFill rotWithShape="1">
          <a:blip r:embed="rId12">
            <a:alphaModFix/>
          </a:blip>
          <a:srcRect b="0" l="-33" r="-33" t="0"/>
          <a:stretch/>
        </p:blipFill>
        <p:spPr>
          <a:xfrm>
            <a:off x="6515100" y="3476549"/>
            <a:ext cx="171907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/>
        </p:nvSpPr>
        <p:spPr>
          <a:xfrm>
            <a:off x="6782105" y="3372307"/>
            <a:ext cx="4476902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Missing values in key sensors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6782105" y="3645713"/>
            <a:ext cx="504840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E.g., </a:t>
            </a:r>
            <a:r>
              <a:rPr b="1" i="0" lang="en-U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coolant_flow</a:t>
            </a:r>
            <a:r>
              <a:rPr b="0"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gaps — typical in real telemetry pipelines.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524244" y="4219956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6782105" y="4114800"/>
            <a:ext cx="4476902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Mixed operating regimes + leakage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6782105" y="4389120"/>
            <a:ext cx="4439412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Different machine types/shifts create clusters; random time-series splits can leak “future” behavior into training.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600200" y="5658307"/>
            <a:ext cx="97539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Leakage-safe validation: </a:t>
            </a:r>
            <a:r>
              <a:rPr b="1" i="0" lang="en-US" sz="13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machine-based train/test split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600200" y="5946343"/>
            <a:ext cx="101955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We split by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machine_id</a:t>
            </a:r>
            <a:r>
              <a:rPr b="0" i="0" lang="en-US" sz="10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(entire machines held out), so performance reflects how the model works on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unseen assets</a:t>
            </a:r>
            <a:r>
              <a:rPr b="0" i="0" lang="en-US" sz="10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 production.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1600200" y="6229807"/>
            <a:ext cx="97539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A7F3D0"/>
                </a:solidFill>
                <a:latin typeface="Inter"/>
                <a:ea typeface="Inter"/>
                <a:cs typeface="Inter"/>
                <a:sym typeface="Inter"/>
              </a:rPr>
              <a:t>Outcome: trustworthy generalization • avoids “memorizing” machines • aligns with real deployment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5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4" name="Google Shape;134;p5"/>
          <p:cNvPicPr preferRelativeResize="0"/>
          <p:nvPr/>
        </p:nvPicPr>
        <p:blipFill rotWithShape="1">
          <a:blip r:embed="rId4">
            <a:alphaModFix/>
          </a:blip>
          <a:srcRect b="-399" l="0" r="0" t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5"/>
          <p:cNvPicPr preferRelativeResize="0"/>
          <p:nvPr/>
        </p:nvPicPr>
        <p:blipFill rotWithShape="1">
          <a:blip r:embed="rId5">
            <a:alphaModFix/>
          </a:blip>
          <a:srcRect b="-6" l="0" r="0" t="-6"/>
          <a:stretch/>
        </p:blipFill>
        <p:spPr>
          <a:xfrm>
            <a:off x="761695" y="1867205"/>
            <a:ext cx="5219395" cy="48390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6" name="Google Shape;136;p5"/>
          <p:cNvPicPr preferRelativeResize="0"/>
          <p:nvPr/>
        </p:nvPicPr>
        <p:blipFill rotWithShape="1">
          <a:blip r:embed="rId6">
            <a:alphaModFix/>
          </a:blip>
          <a:srcRect b="-6" l="0" r="0" t="-6"/>
          <a:stretch/>
        </p:blipFill>
        <p:spPr>
          <a:xfrm>
            <a:off x="6210605" y="1867205"/>
            <a:ext cx="5219395" cy="483900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Key EDA Insights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761695" y="1047902"/>
            <a:ext cx="107826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What the data reveals about degradation patterns (signals that matter for business decisions)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3000" y="2286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 txBox="1"/>
          <p:nvPr/>
        </p:nvSpPr>
        <p:spPr>
          <a:xfrm>
            <a:off x="1600200" y="2133295"/>
            <a:ext cx="430591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Insights that shaped our approach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047902" y="2638044"/>
            <a:ext cx="95098" cy="95098"/>
          </a:xfrm>
          <a:prstGeom prst="ellipse">
            <a:avLst/>
          </a:prstGeom>
          <a:solidFill>
            <a:srgbClr val="0EA5A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1238098" y="2572207"/>
            <a:ext cx="4827118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RUL distribution is left-skewed (capped at “healthy” max)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1238098" y="2800807"/>
            <a:ext cx="4629607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Most observations are in mid-life; failures appear as a sharp end-of-life region → focus accuracy near failure.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47902" y="3345790"/>
            <a:ext cx="95098" cy="95098"/>
          </a:xfrm>
          <a:prstGeom prst="ellipse">
            <a:avLst/>
          </a:prstGeom>
          <a:solidFill>
            <a:srgbClr val="60A5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1238098" y="3279038"/>
            <a:ext cx="466801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Temperatures rise as RUL approaches 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1238098" y="3507638"/>
            <a:ext cx="4629607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Thermal stress is a strong late-stage signal and helps confirm imminent failure risk.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047902" y="4052621"/>
            <a:ext cx="95098" cy="9509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1238098" y="3985870"/>
            <a:ext cx="466801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Vibration variance spikes near failure (“instability”)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1238098" y="4214470"/>
            <a:ext cx="4629607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Rolling standard deviation becomes highly predictive → instability is often the earliest reliable warning.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047902" y="4760366"/>
            <a:ext cx="95098" cy="95098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1238098" y="4693615"/>
            <a:ext cx="466801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Pressure trends decline toward failure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1238098" y="4922215"/>
            <a:ext cx="4629607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Step-down behavior indicates pump/seal degradation patterns valuable for maintenance planning.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1047902" y="5467198"/>
            <a:ext cx="95098" cy="9509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1238098" y="5400446"/>
            <a:ext cx="466801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Anomaly flags correlate with lower average RUL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1238098" y="5629046"/>
            <a:ext cx="4629607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Anomaly = useful early-warning feature to prioritize inspection and reduce surprises.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1047902" y="6108192"/>
            <a:ext cx="4819802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F766E"/>
                </a:solidFill>
                <a:latin typeface="Inter"/>
                <a:ea typeface="Inter"/>
                <a:cs typeface="Inter"/>
                <a:sym typeface="Inter"/>
              </a:rPr>
              <a:t>Takeaway: degradation is non-linear; trend + instability features are more informative than raw sensor snapshots.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7" name="Google Shape;15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90995" y="2286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 txBox="1"/>
          <p:nvPr/>
        </p:nvSpPr>
        <p:spPr>
          <a:xfrm>
            <a:off x="7048195" y="2133295"/>
            <a:ext cx="430591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Degradation patterns (illustrative)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" name="Google Shape;159;p5"/>
          <p:cNvPicPr preferRelativeResize="0"/>
          <p:nvPr/>
        </p:nvPicPr>
        <p:blipFill rotWithShape="1">
          <a:blip r:embed="rId9">
            <a:alphaModFix/>
          </a:blip>
          <a:srcRect b="-2" l="0" r="0" t="-2"/>
          <a:stretch/>
        </p:blipFill>
        <p:spPr>
          <a:xfrm>
            <a:off x="6495898" y="2572207"/>
            <a:ext cx="4743907" cy="314370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 txBox="1"/>
          <p:nvPr/>
        </p:nvSpPr>
        <p:spPr>
          <a:xfrm>
            <a:off x="6495898" y="5810098"/>
            <a:ext cx="4819802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visual summarizes three common signals: </a:t>
            </a:r>
            <a:r>
              <a:rPr b="1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temperature drift</a:t>
            </a: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vibration instability</a:t>
            </a: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b="1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pressure decline</a:t>
            </a: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 failure approaches.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6495898" y="6238951"/>
            <a:ext cx="4819802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Note: chart is illustrative to communicate patterns observed during EDA (not exact raw values).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6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p6"/>
          <p:cNvPicPr preferRelativeResize="0"/>
          <p:nvPr/>
        </p:nvPicPr>
        <p:blipFill rotWithShape="1">
          <a:blip r:embed="rId4">
            <a:alphaModFix/>
          </a:blip>
          <a:srcRect b="-399" l="0" r="0" t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1" name="Google Shape;171;p6"/>
          <p:cNvPicPr preferRelativeResize="0"/>
          <p:nvPr/>
        </p:nvPicPr>
        <p:blipFill rotWithShape="1">
          <a:blip r:embed="rId5">
            <a:alphaModFix/>
          </a:blip>
          <a:srcRect b="-400" l="0" r="0" t="-400"/>
          <a:stretch/>
        </p:blipFill>
        <p:spPr>
          <a:xfrm>
            <a:off x="952805" y="3504895"/>
            <a:ext cx="10287000" cy="38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2" name="Google Shape;172;p6"/>
          <p:cNvPicPr preferRelativeResize="0"/>
          <p:nvPr/>
        </p:nvPicPr>
        <p:blipFill rotWithShape="1">
          <a:blip r:embed="rId6">
            <a:alphaModFix/>
          </a:blip>
          <a:srcRect b="0" l="-5" r="-5" t="0"/>
          <a:stretch/>
        </p:blipFill>
        <p:spPr>
          <a:xfrm>
            <a:off x="761695" y="2018995"/>
            <a:ext cx="1981505" cy="27624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3" name="Google Shape;17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3602" y="2190902"/>
            <a:ext cx="495605" cy="495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4" name="Google Shape;174;p6"/>
          <p:cNvPicPr preferRelativeResize="0"/>
          <p:nvPr/>
        </p:nvPicPr>
        <p:blipFill rotWithShape="1">
          <a:blip r:embed="rId8">
            <a:alphaModFix/>
          </a:blip>
          <a:srcRect b="0" l="-5" r="-5" t="0"/>
          <a:stretch/>
        </p:blipFill>
        <p:spPr>
          <a:xfrm>
            <a:off x="2915107" y="2018995"/>
            <a:ext cx="1981505" cy="27624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5" name="Google Shape;175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86100" y="2190902"/>
            <a:ext cx="495605" cy="495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6" name="Google Shape;176;p6"/>
          <p:cNvPicPr preferRelativeResize="0"/>
          <p:nvPr/>
        </p:nvPicPr>
        <p:blipFill rotWithShape="1">
          <a:blip r:embed="rId10">
            <a:alphaModFix/>
          </a:blip>
          <a:srcRect b="0" l="-5" r="-5" t="0"/>
          <a:stretch/>
        </p:blipFill>
        <p:spPr>
          <a:xfrm>
            <a:off x="5067605" y="2018995"/>
            <a:ext cx="1981505" cy="27624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7" name="Google Shape;177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238598" y="2190902"/>
            <a:ext cx="495605" cy="495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8" name="Google Shape;178;p6"/>
          <p:cNvPicPr preferRelativeResize="0"/>
          <p:nvPr/>
        </p:nvPicPr>
        <p:blipFill rotWithShape="1">
          <a:blip r:embed="rId12">
            <a:alphaModFix/>
          </a:blip>
          <a:srcRect b="0" l="-5" r="-5" t="0"/>
          <a:stretch/>
        </p:blipFill>
        <p:spPr>
          <a:xfrm>
            <a:off x="7220102" y="2018995"/>
            <a:ext cx="1981505" cy="27624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9" name="Google Shape;179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91095" y="2190902"/>
            <a:ext cx="495605" cy="495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0" name="Google Shape;180;p6"/>
          <p:cNvPicPr preferRelativeResize="0"/>
          <p:nvPr/>
        </p:nvPicPr>
        <p:blipFill rotWithShape="1">
          <a:blip r:embed="rId14">
            <a:alphaModFix/>
          </a:blip>
          <a:srcRect b="-3" l="0" r="0" t="-3"/>
          <a:stretch/>
        </p:blipFill>
        <p:spPr>
          <a:xfrm>
            <a:off x="9372600" y="2018995"/>
            <a:ext cx="2057400" cy="27624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1" name="Google Shape;181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544507" y="2190902"/>
            <a:ext cx="495605" cy="495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2" name="Google Shape;182;p6"/>
          <p:cNvPicPr preferRelativeResize="0"/>
          <p:nvPr/>
        </p:nvPicPr>
        <p:blipFill rotWithShape="1">
          <a:blip r:embed="rId16">
            <a:alphaModFix/>
          </a:blip>
          <a:srcRect b="0" l="-13" r="-13" t="0"/>
          <a:stretch/>
        </p:blipFill>
        <p:spPr>
          <a:xfrm>
            <a:off x="761695" y="5067605"/>
            <a:ext cx="10668305" cy="133319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Solution Approach (High-Level)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761695" y="1047902"/>
            <a:ext cx="107826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leakage-safe workflow that turns telemetry into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actionable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maintenance decisions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76249" y="2333549"/>
            <a:ext cx="209398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6"/>
          <p:cNvSpPr txBox="1"/>
          <p:nvPr/>
        </p:nvSpPr>
        <p:spPr>
          <a:xfrm>
            <a:off x="933602" y="2781605"/>
            <a:ext cx="1714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Step 1 — Split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933602" y="3029407"/>
            <a:ext cx="17145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machine_id split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933602" y="3278124"/>
            <a:ext cx="1704442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Prevents data leakage by ensuring test machines are truly unseen.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933602" y="3926434"/>
            <a:ext cx="170444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EA5A4"/>
                </a:solidFill>
                <a:latin typeface="Inter"/>
                <a:ea typeface="Inter"/>
                <a:cs typeface="Inter"/>
                <a:sym typeface="Inter"/>
              </a:rPr>
              <a:t>Outcome: realistic generalization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" name="Google Shape;190;p6"/>
          <p:cNvPicPr preferRelativeResize="0"/>
          <p:nvPr/>
        </p:nvPicPr>
        <p:blipFill rotWithShape="1">
          <a:blip r:embed="rId18">
            <a:alphaModFix/>
          </a:blip>
          <a:srcRect b="0" l="-461" r="-461" t="0"/>
          <a:stretch/>
        </p:blipFill>
        <p:spPr>
          <a:xfrm>
            <a:off x="3215030" y="2333549"/>
            <a:ext cx="237744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6"/>
          <p:cNvSpPr txBox="1"/>
          <p:nvPr/>
        </p:nvSpPr>
        <p:spPr>
          <a:xfrm>
            <a:off x="3086100" y="2781605"/>
            <a:ext cx="1714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Step 2 — Domain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3086100" y="3029407"/>
            <a:ext cx="17145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Stress 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3086100" y="3278124"/>
            <a:ext cx="1704442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Thermal • Mechanical • Electrical • Environment • Age-normalized ratios.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3086100" y="3926434"/>
            <a:ext cx="1950415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Outcome: wear &amp; tear signals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" name="Google Shape;195;p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367528" y="2343607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"/>
          <p:cNvSpPr txBox="1"/>
          <p:nvPr/>
        </p:nvSpPr>
        <p:spPr>
          <a:xfrm>
            <a:off x="5238598" y="2781605"/>
            <a:ext cx="1714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Step 3 —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5238598" y="3029407"/>
            <a:ext cx="1754734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Rolling &amp; lag 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5238598" y="3278124"/>
            <a:ext cx="1704442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Post-split 5-cycle rolling mean/std + lag-1 to capture trend + instability.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5238598" y="3926434"/>
            <a:ext cx="170444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Outcome: degradation “memory”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0" name="Google Shape;200;p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539228" y="2338121"/>
            <a:ext cx="200254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6"/>
          <p:cNvSpPr txBox="1"/>
          <p:nvPr/>
        </p:nvSpPr>
        <p:spPr>
          <a:xfrm>
            <a:off x="7391095" y="2781605"/>
            <a:ext cx="1714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Step 4 —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7391095" y="3029407"/>
            <a:ext cx="17145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Ridge → RF → XGBoost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7391095" y="3278124"/>
            <a:ext cx="1704442" cy="743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Progress from baseline to non-linear models; XGBoost selected for strongest generalization.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7391095" y="4111142"/>
            <a:ext cx="170444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Inter"/>
                <a:ea typeface="Inter"/>
                <a:cs typeface="Inter"/>
                <a:sym typeface="Inter"/>
              </a:rPr>
              <a:t>Outcome: best fit to non-linearity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6"/>
          <p:cNvPicPr preferRelativeResize="0"/>
          <p:nvPr/>
        </p:nvPicPr>
        <p:blipFill rotWithShape="1">
          <a:blip r:embed="rId21">
            <a:alphaModFix/>
          </a:blip>
          <a:srcRect b="-507" l="0" r="0" t="-507"/>
          <a:stretch/>
        </p:blipFill>
        <p:spPr>
          <a:xfrm>
            <a:off x="9667951" y="2338121"/>
            <a:ext cx="247802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"/>
          <p:cNvSpPr txBox="1"/>
          <p:nvPr/>
        </p:nvSpPr>
        <p:spPr>
          <a:xfrm>
            <a:off x="9544507" y="2781605"/>
            <a:ext cx="179131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5 — 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9544507" y="3029407"/>
            <a:ext cx="1987906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Safety layer + Risk bands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9544507" y="3278124"/>
            <a:ext cx="1783080" cy="562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Clip predictions to </a:t>
            </a: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0–300</a:t>
            </a: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cycles; translate to CRITICAL / HIGH / MEDIUM / SAFE.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9544507" y="3926434"/>
            <a:ext cx="1783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A7F3D0"/>
                </a:solidFill>
                <a:latin typeface="Inter"/>
                <a:ea typeface="Inter"/>
                <a:cs typeface="Inter"/>
                <a:sym typeface="Inter"/>
              </a:rPr>
              <a:t>Outcome: operational decisions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0" name="Google Shape;210;p6"/>
          <p:cNvPicPr preferRelativeResize="0"/>
          <p:nvPr/>
        </p:nvPicPr>
        <p:blipFill rotWithShape="1">
          <a:blip r:embed="rId22">
            <a:alphaModFix/>
          </a:blip>
          <a:srcRect b="0" l="-760" r="-760" t="0"/>
          <a:stretch/>
        </p:blipFill>
        <p:spPr>
          <a:xfrm>
            <a:off x="2743200" y="3276295"/>
            <a:ext cx="152705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1" name="Google Shape;211;p6"/>
          <p:cNvPicPr preferRelativeResize="0"/>
          <p:nvPr/>
        </p:nvPicPr>
        <p:blipFill rotWithShape="1">
          <a:blip r:embed="rId22">
            <a:alphaModFix/>
          </a:blip>
          <a:srcRect b="0" l="-760" r="-760" t="0"/>
          <a:stretch/>
        </p:blipFill>
        <p:spPr>
          <a:xfrm>
            <a:off x="4895698" y="3276295"/>
            <a:ext cx="152705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2" name="Google Shape;212;p6"/>
          <p:cNvPicPr preferRelativeResize="0"/>
          <p:nvPr/>
        </p:nvPicPr>
        <p:blipFill rotWithShape="1">
          <a:blip r:embed="rId22">
            <a:alphaModFix/>
          </a:blip>
          <a:srcRect b="0" l="-760" r="-760" t="0"/>
          <a:stretch/>
        </p:blipFill>
        <p:spPr>
          <a:xfrm>
            <a:off x="7048195" y="3276295"/>
            <a:ext cx="152705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3" name="Google Shape;213;p6"/>
          <p:cNvPicPr preferRelativeResize="0"/>
          <p:nvPr/>
        </p:nvPicPr>
        <p:blipFill rotWithShape="1">
          <a:blip r:embed="rId22">
            <a:alphaModFix/>
          </a:blip>
          <a:srcRect b="0" l="-760" r="-760" t="0"/>
          <a:stretch/>
        </p:blipFill>
        <p:spPr>
          <a:xfrm>
            <a:off x="9201607" y="3276295"/>
            <a:ext cx="152705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4" name="Google Shape;214;p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123798" y="550560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6"/>
          <p:cNvSpPr txBox="1"/>
          <p:nvPr/>
        </p:nvSpPr>
        <p:spPr>
          <a:xfrm>
            <a:off x="1600200" y="5296205"/>
            <a:ext cx="96396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What makes this approach reliable for a real factory setting?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1600200" y="5603443"/>
            <a:ext cx="1021110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workflow explicitly </a:t>
            </a: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prevents leakage</a:t>
            </a:r>
            <a:r>
              <a:rPr b="0"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learns </a:t>
            </a: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degradation trends</a:t>
            </a:r>
            <a:r>
              <a:rPr b="0"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and converts predictions into </a:t>
            </a: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risk-based actions</a:t>
            </a:r>
            <a:r>
              <a:rPr b="0"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aligned to uptime and safety.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1600200" y="5893308"/>
            <a:ext cx="963960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EA5A4"/>
                </a:solidFill>
                <a:latin typeface="Inter"/>
                <a:ea typeface="Inter"/>
                <a:cs typeface="Inter"/>
                <a:sym typeface="Inter"/>
              </a:rPr>
              <a:t>Business lens: prioritize catching imminent failures over “perfect” long-horizon estimates.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761695" y="6572707"/>
            <a:ext cx="107826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Note: Temporal features are engineered after the machine-based split to preserve causality and ensure evaluation matches deployment reality.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6" name="Google Shape;226;p7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7" name="Google Shape;227;p7"/>
          <p:cNvPicPr preferRelativeResize="0"/>
          <p:nvPr/>
        </p:nvPicPr>
        <p:blipFill rotWithShape="1">
          <a:blip r:embed="rId4">
            <a:alphaModFix/>
          </a:blip>
          <a:srcRect b="-399" l="0" r="0" t="-399"/>
          <a:stretch/>
        </p:blipFill>
        <p:spPr>
          <a:xfrm>
            <a:off x="761695" y="1676095"/>
            <a:ext cx="10668305" cy="19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8" name="Google Shape;228;p7"/>
          <p:cNvPicPr preferRelativeResize="0"/>
          <p:nvPr/>
        </p:nvPicPr>
        <p:blipFill rotWithShape="1">
          <a:blip r:embed="rId5">
            <a:alphaModFix/>
          </a:blip>
          <a:srcRect b="0" l="-1" r="-1" t="0"/>
          <a:stretch/>
        </p:blipFill>
        <p:spPr>
          <a:xfrm>
            <a:off x="761695" y="1952244"/>
            <a:ext cx="1066830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9" name="Google Shape;229;p7"/>
          <p:cNvPicPr preferRelativeResize="0"/>
          <p:nvPr/>
        </p:nvPicPr>
        <p:blipFill rotWithShape="1">
          <a:blip r:embed="rId6">
            <a:alphaModFix/>
          </a:blip>
          <a:srcRect b="-9" l="0" r="0" t="-9"/>
          <a:stretch/>
        </p:blipFill>
        <p:spPr>
          <a:xfrm>
            <a:off x="761695" y="3247949"/>
            <a:ext cx="10668305" cy="1524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0" name="Google Shape;230;p7"/>
          <p:cNvPicPr preferRelativeResize="0"/>
          <p:nvPr/>
        </p:nvPicPr>
        <p:blipFill rotWithShape="1">
          <a:blip r:embed="rId7">
            <a:alphaModFix/>
          </a:blip>
          <a:srcRect b="-15" l="0" r="0" t="-15"/>
          <a:stretch/>
        </p:blipFill>
        <p:spPr>
          <a:xfrm>
            <a:off x="761695" y="4943246"/>
            <a:ext cx="10668305" cy="142920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7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Feature Engineering Highlights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761695" y="1067105"/>
            <a:ext cx="107826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Translating raw telemetry into degradation signals (domain stress + temporal instability)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3" name="Google Shape;233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4654" y="2352751"/>
            <a:ext cx="247802" cy="24780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7"/>
          <p:cNvSpPr txBox="1"/>
          <p:nvPr/>
        </p:nvSpPr>
        <p:spPr>
          <a:xfrm>
            <a:off x="1600200" y="2115007"/>
            <a:ext cx="97155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Thermal stress (overheating signal)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1600200" y="2422246"/>
            <a:ext cx="97155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temp_delta_1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= temperature − ambient (corr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−0.57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 •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temp_delta_2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= temperature_2 − ambient (corr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−0.58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1600200" y="2734970"/>
            <a:ext cx="9715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EA5A4"/>
                </a:solidFill>
                <a:latin typeface="Inter"/>
                <a:ea typeface="Inter"/>
                <a:cs typeface="Inter"/>
                <a:sym typeface="Inter"/>
              </a:rPr>
              <a:t>Higher deltas → poorer heat dissipation → lower RUL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7" name="Google Shape;237;p7"/>
          <p:cNvPicPr preferRelativeResize="0"/>
          <p:nvPr/>
        </p:nvPicPr>
        <p:blipFill rotWithShape="1">
          <a:blip r:embed="rId9">
            <a:alphaModFix/>
          </a:blip>
          <a:srcRect b="0" l="-80" r="-80" t="0"/>
          <a:stretch/>
        </p:blipFill>
        <p:spPr>
          <a:xfrm>
            <a:off x="1095451" y="3810305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7"/>
          <p:cNvSpPr txBox="1"/>
          <p:nvPr/>
        </p:nvSpPr>
        <p:spPr>
          <a:xfrm>
            <a:off x="1600200" y="3448202"/>
            <a:ext cx="97155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Mechanical strain + age-normalized stress (wear &amp; efficiency)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 txBox="1"/>
          <p:nvPr/>
        </p:nvSpPr>
        <p:spPr>
          <a:xfrm>
            <a:off x="1600200" y="3755441"/>
            <a:ext cx="97155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torque_per_rpm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(corr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−0.59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 and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vibration_per_load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capture overload / friction / abnormal vibration.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 txBox="1"/>
          <p:nvPr/>
        </p:nvSpPr>
        <p:spPr>
          <a:xfrm>
            <a:off x="1600200" y="4068166"/>
            <a:ext cx="97155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load_per_age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(corr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+0.40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 •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vibration_per_age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(corr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+0.39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1600200" y="4380890"/>
            <a:ext cx="971550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Normalizes behavior by usage/age → improves comparability across machines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7"/>
          <p:cNvPicPr preferRelativeResize="0"/>
          <p:nvPr/>
        </p:nvPicPr>
        <p:blipFill rotWithShape="1">
          <a:blip r:embed="rId10">
            <a:alphaModFix/>
          </a:blip>
          <a:srcRect b="0" l="-80" r="-80" t="0"/>
          <a:stretch/>
        </p:blipFill>
        <p:spPr>
          <a:xfrm>
            <a:off x="1095451" y="5419649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7"/>
          <p:cNvSpPr txBox="1"/>
          <p:nvPr/>
        </p:nvSpPr>
        <p:spPr>
          <a:xfrm>
            <a:off x="1600200" y="5143500"/>
            <a:ext cx="97155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Temporal stability (trend + instability signals)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1600200" y="5450738"/>
            <a:ext cx="1026414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Built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5-cycle rolling mean/std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lag-1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features per machine to capture gradual degradation + variance spikes.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1600200" y="5789981"/>
            <a:ext cx="97155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Example: </a:t>
            </a:r>
            <a:r>
              <a:rPr b="1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temperature_roll_mean</a:t>
            </a:r>
            <a:r>
              <a:rPr b="1" i="0" lang="en-US" sz="1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(corr −0.24) indicates sustained heating before failure.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1600200" y="6099962"/>
            <a:ext cx="97155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A7F3D0"/>
                </a:solidFill>
                <a:latin typeface="Inter"/>
                <a:ea typeface="Inter"/>
                <a:cs typeface="Inter"/>
                <a:sym typeface="Inter"/>
              </a:rPr>
              <a:t>Outcome: smoother trends + early-warning instability → better RUL prediction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 txBox="1"/>
          <p:nvPr/>
        </p:nvSpPr>
        <p:spPr>
          <a:xfrm>
            <a:off x="761695" y="6553505"/>
            <a:ext cx="11333074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These engineered features convert noisy sensor readings into interpretable “stress” and “instability” signals that align with real machine degradation.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8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6" name="Google Shape;256;p8"/>
          <p:cNvPicPr preferRelativeResize="0"/>
          <p:nvPr/>
        </p:nvPicPr>
        <p:blipFill rotWithShape="1">
          <a:blip r:embed="rId4">
            <a:alphaModFix/>
          </a:blip>
          <a:srcRect b="-399" l="0" r="0" t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7" name="Google Shape;257;p8"/>
          <p:cNvPicPr preferRelativeResize="0"/>
          <p:nvPr/>
        </p:nvPicPr>
        <p:blipFill rotWithShape="1">
          <a:blip r:embed="rId5">
            <a:alphaModFix/>
          </a:blip>
          <a:srcRect b="0" l="-2" r="-2" t="0"/>
          <a:stretch/>
        </p:blipFill>
        <p:spPr>
          <a:xfrm>
            <a:off x="761695" y="1867205"/>
            <a:ext cx="3429000" cy="4095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8" name="Google Shape;258;p8"/>
          <p:cNvPicPr preferRelativeResize="0"/>
          <p:nvPr/>
        </p:nvPicPr>
        <p:blipFill rotWithShape="1">
          <a:blip r:embed="rId6">
            <a:alphaModFix/>
          </a:blip>
          <a:srcRect b="0" l="-2" r="-2" t="0"/>
          <a:stretch/>
        </p:blipFill>
        <p:spPr>
          <a:xfrm>
            <a:off x="4381805" y="1867205"/>
            <a:ext cx="3429000" cy="4095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9" name="Google Shape;259;p8"/>
          <p:cNvPicPr preferRelativeResize="0"/>
          <p:nvPr/>
        </p:nvPicPr>
        <p:blipFill rotWithShape="1">
          <a:blip r:embed="rId7">
            <a:alphaModFix/>
          </a:blip>
          <a:srcRect b="0" l="-2" r="-2" t="0"/>
          <a:stretch/>
        </p:blipFill>
        <p:spPr>
          <a:xfrm>
            <a:off x="8001000" y="1867205"/>
            <a:ext cx="3429000" cy="4095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0" name="Google Shape;260;p8"/>
          <p:cNvPicPr preferRelativeResize="0"/>
          <p:nvPr/>
        </p:nvPicPr>
        <p:blipFill rotWithShape="1">
          <a:blip r:embed="rId8">
            <a:alphaModFix/>
          </a:blip>
          <a:srcRect b="-21" l="0" r="0" t="-21"/>
          <a:stretch/>
        </p:blipFill>
        <p:spPr>
          <a:xfrm>
            <a:off x="1047902" y="2723998"/>
            <a:ext cx="2857500" cy="7242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1" name="Google Shape;261;p8"/>
          <p:cNvPicPr preferRelativeResize="0"/>
          <p:nvPr/>
        </p:nvPicPr>
        <p:blipFill rotWithShape="1">
          <a:blip r:embed="rId8">
            <a:alphaModFix/>
          </a:blip>
          <a:srcRect b="-21" l="0" r="0" t="-21"/>
          <a:stretch/>
        </p:blipFill>
        <p:spPr>
          <a:xfrm>
            <a:off x="4667098" y="2723998"/>
            <a:ext cx="2857500" cy="7242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2" name="Google Shape;262;p8"/>
          <p:cNvPicPr preferRelativeResize="0"/>
          <p:nvPr/>
        </p:nvPicPr>
        <p:blipFill rotWithShape="1">
          <a:blip r:embed="rId9">
            <a:alphaModFix/>
          </a:blip>
          <a:srcRect b="-21" l="0" r="0" t="-21"/>
          <a:stretch/>
        </p:blipFill>
        <p:spPr>
          <a:xfrm>
            <a:off x="8287207" y="2723998"/>
            <a:ext cx="2857500" cy="7242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3" name="Google Shape;263;p8"/>
          <p:cNvPicPr preferRelativeResize="0"/>
          <p:nvPr/>
        </p:nvPicPr>
        <p:blipFill rotWithShape="1">
          <a:blip r:embed="rId10">
            <a:alphaModFix/>
          </a:blip>
          <a:srcRect b="-75" l="0" r="0" t="-75"/>
          <a:stretch/>
        </p:blipFill>
        <p:spPr>
          <a:xfrm>
            <a:off x="9773107" y="2000707"/>
            <a:ext cx="1505102" cy="2862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4" name="Google Shape;264;p8"/>
          <p:cNvPicPr preferRelativeResize="0"/>
          <p:nvPr/>
        </p:nvPicPr>
        <p:blipFill rotWithShape="1">
          <a:blip r:embed="rId11">
            <a:alphaModFix/>
          </a:blip>
          <a:srcRect b="-24" l="0" r="0" t="-24"/>
          <a:stretch/>
        </p:blipFill>
        <p:spPr>
          <a:xfrm>
            <a:off x="761695" y="6096305"/>
            <a:ext cx="10668305" cy="60990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Model Comparison &amp; Selection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761695" y="1047902"/>
            <a:ext cx="113541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We evaluated three models on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unseen machines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using RMSE (lower is better) and selected the most reliable option for operations.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7" name="Google Shape;267;p8"/>
          <p:cNvPicPr preferRelativeResize="0"/>
          <p:nvPr/>
        </p:nvPicPr>
        <p:blipFill rotWithShape="1">
          <a:blip r:embed="rId12">
            <a:alphaModFix/>
          </a:blip>
          <a:srcRect b="0" l="-1004" r="-1004" t="0"/>
          <a:stretch/>
        </p:blipFill>
        <p:spPr>
          <a:xfrm>
            <a:off x="1104595" y="2238451"/>
            <a:ext cx="267005" cy="209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8" name="Google Shape;268;p8"/>
          <p:cNvPicPr preferRelativeResize="0"/>
          <p:nvPr/>
        </p:nvPicPr>
        <p:blipFill rotWithShape="1">
          <a:blip r:embed="rId13">
            <a:alphaModFix/>
          </a:blip>
          <a:srcRect b="-600" l="0" r="0" t="-600"/>
          <a:stretch/>
        </p:blipFill>
        <p:spPr>
          <a:xfrm>
            <a:off x="4767682" y="2238451"/>
            <a:ext cx="181051" cy="209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9" name="Google Shape;269;p8"/>
          <p:cNvPicPr preferRelativeResize="0"/>
          <p:nvPr/>
        </p:nvPicPr>
        <p:blipFill rotWithShape="1">
          <a:blip r:embed="rId14">
            <a:alphaModFix/>
          </a:blip>
          <a:srcRect b="-600" l="0" r="0" t="-600"/>
          <a:stretch/>
        </p:blipFill>
        <p:spPr>
          <a:xfrm>
            <a:off x="8386877" y="2238451"/>
            <a:ext cx="181051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8"/>
          <p:cNvSpPr txBox="1"/>
          <p:nvPr/>
        </p:nvSpPr>
        <p:spPr>
          <a:xfrm>
            <a:off x="1485900" y="2095805"/>
            <a:ext cx="257586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Ridge Regression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1485900" y="2348179"/>
            <a:ext cx="257586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Baseline (linear + stable)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5105095" y="2095805"/>
            <a:ext cx="257586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5105095" y="2348179"/>
            <a:ext cx="257586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Non-linear ensemble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8725205" y="2095805"/>
            <a:ext cx="24771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XGBoost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8725205" y="2348179"/>
            <a:ext cx="24771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A7F3D0"/>
                </a:solidFill>
                <a:latin typeface="Inter"/>
                <a:ea typeface="Inter"/>
                <a:cs typeface="Inter"/>
                <a:sym typeface="Inter"/>
              </a:rPr>
              <a:t>Final model (selected)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1181405" y="2838298"/>
            <a:ext cx="2694737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RMSE (Train / Test)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1181405" y="3044038"/>
            <a:ext cx="2694737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19.03 </a:t>
            </a:r>
            <a:r>
              <a:rPr b="1" i="0" lang="en-US" sz="16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b="1" i="0" lang="en-US" sz="1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18.91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4800600" y="2838298"/>
            <a:ext cx="2694737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RMSE (Train / Test)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 txBox="1"/>
          <p:nvPr/>
        </p:nvSpPr>
        <p:spPr>
          <a:xfrm>
            <a:off x="4800600" y="3044038"/>
            <a:ext cx="2694737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18.17 </a:t>
            </a:r>
            <a:r>
              <a:rPr b="1" i="0" lang="en-US" sz="16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b="1" i="0" lang="en-US" sz="1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18.93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 txBox="1"/>
          <p:nvPr/>
        </p:nvSpPr>
        <p:spPr>
          <a:xfrm>
            <a:off x="8419795" y="2838298"/>
            <a:ext cx="2694737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F6E4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99F6E4"/>
                </a:solidFill>
                <a:latin typeface="Inter"/>
                <a:ea typeface="Inter"/>
                <a:cs typeface="Inter"/>
                <a:sym typeface="Inter"/>
              </a:rPr>
              <a:t>RMSE (Train / Test)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 txBox="1"/>
          <p:nvPr/>
        </p:nvSpPr>
        <p:spPr>
          <a:xfrm>
            <a:off x="8419795" y="3044038"/>
            <a:ext cx="2694737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17.88 </a:t>
            </a:r>
            <a:r>
              <a:rPr b="1" i="0" lang="en-US" sz="1600" u="none" cap="none" strike="noStrike">
                <a:solidFill>
                  <a:srgbClr val="5EEAD4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19.10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 txBox="1"/>
          <p:nvPr/>
        </p:nvSpPr>
        <p:spPr>
          <a:xfrm>
            <a:off x="1047902" y="3543300"/>
            <a:ext cx="29718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Key takeaways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 txBox="1"/>
          <p:nvPr/>
        </p:nvSpPr>
        <p:spPr>
          <a:xfrm>
            <a:off x="1047902" y="3830422"/>
            <a:ext cx="293431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Strong sanity baseline; stable under machine-based split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Struggles with non-linear degradation (“cliff” near failure)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Useful as a reference point for improvement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4667098" y="3543300"/>
            <a:ext cx="29718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Key takeaways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 txBox="1"/>
          <p:nvPr/>
        </p:nvSpPr>
        <p:spPr>
          <a:xfrm>
            <a:off x="4667098" y="3830422"/>
            <a:ext cx="2934310" cy="1239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Captures non-linear sensor interactions better than Ridge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Generalizes well; limited smoothness for continuous RUL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Solid but not the strongest for nuanced failure patterns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 txBox="1"/>
          <p:nvPr/>
        </p:nvSpPr>
        <p:spPr>
          <a:xfrm>
            <a:off x="8287207" y="3543300"/>
            <a:ext cx="297180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Why it won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8287207" y="3830422"/>
            <a:ext cx="2934310" cy="1239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Best at learning complex, non-linear degradation patterns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Minimal overfitting (train RMSE close to test RMSE)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Weighted focus on critical region to improve failure detection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8" name="Google Shape;288;p8"/>
          <p:cNvPicPr preferRelativeResize="0"/>
          <p:nvPr/>
        </p:nvPicPr>
        <p:blipFill rotWithShape="1">
          <a:blip r:embed="rId15">
            <a:alphaModFix/>
          </a:blip>
          <a:srcRect b="0" l="-1358" r="-1358" t="0"/>
          <a:stretch/>
        </p:blipFill>
        <p:spPr>
          <a:xfrm>
            <a:off x="9911182" y="2081174"/>
            <a:ext cx="142646" cy="1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8"/>
          <p:cNvSpPr txBox="1"/>
          <p:nvPr/>
        </p:nvSpPr>
        <p:spPr>
          <a:xfrm>
            <a:off x="10134295" y="2029054"/>
            <a:ext cx="1200607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SELECTED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0" name="Google Shape;290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04595" y="6344107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8"/>
          <p:cNvSpPr txBox="1"/>
          <p:nvPr/>
        </p:nvSpPr>
        <p:spPr>
          <a:xfrm>
            <a:off x="1447495" y="6191402"/>
            <a:ext cx="100209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Decision: XGBoost selected for best pattern learning + safe generalization on unseen machines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1447495" y="6424574"/>
            <a:ext cx="1002091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Next step: apply safety constraints and translate RUL into risk bands for operational action (CRITICAL/HIGH/MEDIUM/SAFE).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0" name="Google Shape;300;p9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1" name="Google Shape;301;p9"/>
          <p:cNvPicPr preferRelativeResize="0"/>
          <p:nvPr/>
        </p:nvPicPr>
        <p:blipFill rotWithShape="1">
          <a:blip r:embed="rId4">
            <a:alphaModFix/>
          </a:blip>
          <a:srcRect b="-399" l="0" r="0" t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2" name="Google Shape;302;p9"/>
          <p:cNvPicPr preferRelativeResize="0"/>
          <p:nvPr/>
        </p:nvPicPr>
        <p:blipFill rotWithShape="1">
          <a:blip r:embed="rId5">
            <a:alphaModFix/>
          </a:blip>
          <a:srcRect b="-9" l="0" r="0" t="-9"/>
          <a:stretch/>
        </p:blipFill>
        <p:spPr>
          <a:xfrm>
            <a:off x="761695" y="1867205"/>
            <a:ext cx="3429000" cy="25722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3" name="Google Shape;30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8700" y="2152498"/>
            <a:ext cx="495605" cy="495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4" name="Google Shape;304;p9"/>
          <p:cNvPicPr preferRelativeResize="0"/>
          <p:nvPr/>
        </p:nvPicPr>
        <p:blipFill rotWithShape="1">
          <a:blip r:embed="rId7">
            <a:alphaModFix/>
          </a:blip>
          <a:srcRect b="-9" l="0" r="0" t="-9"/>
          <a:stretch/>
        </p:blipFill>
        <p:spPr>
          <a:xfrm>
            <a:off x="4381805" y="1867205"/>
            <a:ext cx="3429000" cy="25722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5" name="Google Shape;305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7895" y="2152498"/>
            <a:ext cx="495605" cy="495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6" name="Google Shape;306;p9"/>
          <p:cNvPicPr preferRelativeResize="0"/>
          <p:nvPr/>
        </p:nvPicPr>
        <p:blipFill rotWithShape="1">
          <a:blip r:embed="rId9">
            <a:alphaModFix/>
          </a:blip>
          <a:srcRect b="-9" l="0" r="0" t="-9"/>
          <a:stretch/>
        </p:blipFill>
        <p:spPr>
          <a:xfrm>
            <a:off x="8001000" y="1867205"/>
            <a:ext cx="3429000" cy="25722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7" name="Google Shape;307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68005" y="2152498"/>
            <a:ext cx="495605" cy="495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8" name="Google Shape;308;p9"/>
          <p:cNvPicPr preferRelativeResize="0"/>
          <p:nvPr/>
        </p:nvPicPr>
        <p:blipFill rotWithShape="1">
          <a:blip r:embed="rId11">
            <a:alphaModFix/>
          </a:blip>
          <a:srcRect b="0" l="-9" r="-9" t="0"/>
          <a:stretch/>
        </p:blipFill>
        <p:spPr>
          <a:xfrm>
            <a:off x="761695" y="4686300"/>
            <a:ext cx="10668305" cy="201899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9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Final Results (Safety-Aware)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 txBox="1"/>
          <p:nvPr/>
        </p:nvSpPr>
        <p:spPr>
          <a:xfrm>
            <a:off x="761695" y="1047902"/>
            <a:ext cx="107826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Performance summary on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unseen machines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with a business-first safety layer (clipping + conservative bias).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1" name="Google Shape;311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71346" y="2295144"/>
            <a:ext cx="209398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9"/>
          <p:cNvSpPr txBox="1"/>
          <p:nvPr/>
        </p:nvSpPr>
        <p:spPr>
          <a:xfrm>
            <a:off x="1600200" y="2133295"/>
            <a:ext cx="2496312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Test RMSE (after safety layer)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1028700" y="2723998"/>
            <a:ext cx="3086100" cy="543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Inter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19.78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1028700" y="3359506"/>
            <a:ext cx="297180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RMSE optimized for </a:t>
            </a: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high-risk errors</a:t>
            </a:r>
            <a:r>
              <a:rPr b="0"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(large misses are penalized more).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1028700" y="3848710"/>
            <a:ext cx="2971800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EA5A4"/>
                </a:solidFill>
                <a:latin typeface="Inter"/>
                <a:ea typeface="Inter"/>
                <a:cs typeface="Inter"/>
                <a:sym typeface="Inter"/>
              </a:rPr>
              <a:t>Interpretation: predictions stay within a practical error band for maintenance planning.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6" name="Google Shape;316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91456" y="2295144"/>
            <a:ext cx="209398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9"/>
          <p:cNvSpPr txBox="1"/>
          <p:nvPr/>
        </p:nvSpPr>
        <p:spPr>
          <a:xfrm>
            <a:off x="5219395" y="2133295"/>
            <a:ext cx="2496312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Overprediction 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 txBox="1"/>
          <p:nvPr/>
        </p:nvSpPr>
        <p:spPr>
          <a:xfrm>
            <a:off x="4647895" y="2723998"/>
            <a:ext cx="3086100" cy="543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Inter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0.39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 txBox="1"/>
          <p:nvPr/>
        </p:nvSpPr>
        <p:spPr>
          <a:xfrm>
            <a:off x="4647895" y="3359506"/>
            <a:ext cx="297180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Indicates a </a:t>
            </a: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conservative</a:t>
            </a:r>
            <a:r>
              <a:rPr b="0"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tendency (safety-first).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 txBox="1"/>
          <p:nvPr/>
        </p:nvSpPr>
        <p:spPr>
          <a:xfrm>
            <a:off x="4647895" y="3848710"/>
            <a:ext cx="2971800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Business trade-off: accepts some false alarms to avoid “false safe” failures.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1" name="Google Shape;321;p9"/>
          <p:cNvPicPr preferRelativeResize="0"/>
          <p:nvPr/>
        </p:nvPicPr>
        <p:blipFill rotWithShape="1">
          <a:blip r:embed="rId14">
            <a:alphaModFix/>
          </a:blip>
          <a:srcRect b="0" l="-1282" r="-1282" t="0"/>
          <a:stretch/>
        </p:blipFill>
        <p:spPr>
          <a:xfrm>
            <a:off x="8406079" y="2305202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8839505" y="2133295"/>
            <a:ext cx="2456993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F6E4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99F6E4"/>
                </a:solidFill>
                <a:latin typeface="Inter"/>
                <a:ea typeface="Inter"/>
                <a:cs typeface="Inter"/>
                <a:sym typeface="Inter"/>
              </a:rPr>
              <a:t>Generalization check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 txBox="1"/>
          <p:nvPr/>
        </p:nvSpPr>
        <p:spPr>
          <a:xfrm>
            <a:off x="8268005" y="2723998"/>
            <a:ext cx="2950769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Inter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Consistent 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Inter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unseen machines 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 txBox="1"/>
          <p:nvPr/>
        </p:nvSpPr>
        <p:spPr>
          <a:xfrm>
            <a:off x="8268005" y="3388766"/>
            <a:ext cx="2934310" cy="543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Evaluation used a strict </a:t>
            </a: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machine_id</a:t>
            </a:r>
            <a:r>
              <a:rPr b="0" i="0" lang="en-US" sz="9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split so the model is tested on machines it never saw during training.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 txBox="1"/>
          <p:nvPr/>
        </p:nvSpPr>
        <p:spPr>
          <a:xfrm>
            <a:off x="8268005" y="3984041"/>
            <a:ext cx="2934310" cy="352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A7F3D0"/>
                </a:solidFill>
                <a:latin typeface="Inter"/>
                <a:ea typeface="Inter"/>
                <a:cs typeface="Inter"/>
                <a:sym typeface="Inter"/>
              </a:rPr>
              <a:t>Why it matters: closer to real deployment conditions.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6" name="Google Shape;326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23798" y="51435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9"/>
          <p:cNvSpPr txBox="1"/>
          <p:nvPr/>
        </p:nvSpPr>
        <p:spPr>
          <a:xfrm>
            <a:off x="1600200" y="4953305"/>
            <a:ext cx="97539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What this means for the business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 txBox="1"/>
          <p:nvPr/>
        </p:nvSpPr>
        <p:spPr>
          <a:xfrm>
            <a:off x="1600200" y="5260543"/>
            <a:ext cx="97155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model is tuned to be </a:t>
            </a: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risk-aware</a:t>
            </a:r>
            <a:r>
              <a:rPr b="0"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 it avoids dangerous “too-late” maintenance by leaning conservative, while keeping overall prediction error stable on new machines.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 txBox="1"/>
          <p:nvPr/>
        </p:nvSpPr>
        <p:spPr>
          <a:xfrm>
            <a:off x="1600200" y="5795467"/>
            <a:ext cx="97539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Next: translate RUL into </a:t>
            </a:r>
            <a:r>
              <a:rPr b="1" i="0" lang="en-US" sz="1000" u="none" cap="none" strike="noStrike">
                <a:solidFill>
                  <a:srgbClr val="0EA5A4"/>
                </a:solidFill>
                <a:latin typeface="Inter"/>
                <a:ea typeface="Inter"/>
                <a:cs typeface="Inter"/>
                <a:sym typeface="Inter"/>
              </a:rPr>
              <a:t>Risk Bands</a:t>
            </a: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to drive action (CRITICAL / HIGH / MEDIUM / SAFE).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7" name="Google Shape;337;p10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8" name="Google Shape;338;p10"/>
          <p:cNvPicPr preferRelativeResize="0"/>
          <p:nvPr/>
        </p:nvPicPr>
        <p:blipFill rotWithShape="1">
          <a:blip r:embed="rId4">
            <a:alphaModFix/>
          </a:blip>
          <a:srcRect b="-399" l="0" r="0" t="-399"/>
          <a:stretch/>
        </p:blipFill>
        <p:spPr>
          <a:xfrm>
            <a:off x="761695" y="1657807"/>
            <a:ext cx="10668305" cy="19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9" name="Google Shape;339;p10"/>
          <p:cNvPicPr preferRelativeResize="0"/>
          <p:nvPr/>
        </p:nvPicPr>
        <p:blipFill rotWithShape="1">
          <a:blip r:embed="rId5">
            <a:alphaModFix/>
          </a:blip>
          <a:srcRect b="-3" l="0" r="0" t="-3"/>
          <a:stretch/>
        </p:blipFill>
        <p:spPr>
          <a:xfrm>
            <a:off x="761695" y="1867205"/>
            <a:ext cx="5219395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0" name="Google Shape;340;p10"/>
          <p:cNvPicPr preferRelativeResize="0"/>
          <p:nvPr/>
        </p:nvPicPr>
        <p:blipFill rotWithShape="1">
          <a:blip r:embed="rId6">
            <a:alphaModFix/>
          </a:blip>
          <a:srcRect b="-3" l="0" r="0" t="-3"/>
          <a:stretch/>
        </p:blipFill>
        <p:spPr>
          <a:xfrm>
            <a:off x="6210605" y="1867205"/>
            <a:ext cx="5219395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1" name="Google Shape;341;p10"/>
          <p:cNvPicPr preferRelativeResize="0"/>
          <p:nvPr/>
        </p:nvPicPr>
        <p:blipFill rotWithShape="1">
          <a:blip r:embed="rId7">
            <a:alphaModFix/>
          </a:blip>
          <a:srcRect b="0" l="-5" r="-5" t="0"/>
          <a:stretch/>
        </p:blipFill>
        <p:spPr>
          <a:xfrm>
            <a:off x="6495898" y="2628900"/>
            <a:ext cx="4743907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2" name="Google Shape;342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95898" y="3562502"/>
            <a:ext cx="4743907" cy="17337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3" name="Google Shape;343;p10"/>
          <p:cNvPicPr preferRelativeResize="0"/>
          <p:nvPr/>
        </p:nvPicPr>
        <p:blipFill rotWithShape="1">
          <a:blip r:embed="rId9">
            <a:alphaModFix/>
          </a:blip>
          <a:srcRect b="0" l="-14" r="-14" t="0"/>
          <a:stretch/>
        </p:blipFill>
        <p:spPr>
          <a:xfrm>
            <a:off x="761695" y="5486400"/>
            <a:ext cx="1066830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0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Business Impact &amp; Risk Bands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761695" y="1047902"/>
            <a:ext cx="107826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Translating RUL predictions into simple, operational decisions for maintenance planning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6" name="Google Shape;346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43000" y="2286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0"/>
          <p:cNvSpPr txBox="1"/>
          <p:nvPr/>
        </p:nvSpPr>
        <p:spPr>
          <a:xfrm>
            <a:off x="1600200" y="2133295"/>
            <a:ext cx="430591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Risk Bands (Action Layer)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 txBox="1"/>
          <p:nvPr/>
        </p:nvSpPr>
        <p:spPr>
          <a:xfrm>
            <a:off x="1047902" y="2572207"/>
            <a:ext cx="4819802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We convert continuous RUL into </a:t>
            </a: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four decision-ready bands</a:t>
            </a:r>
            <a:r>
              <a:rPr b="0" i="0" lang="en-U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 guide planning and prioritization.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 txBox="1"/>
          <p:nvPr/>
        </p:nvSpPr>
        <p:spPr>
          <a:xfrm>
            <a:off x="1047902" y="3131820"/>
            <a:ext cx="48582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CRITICAL </a:t>
            </a:r>
            <a:r>
              <a:rPr b="1" i="0" lang="en-US" sz="1100" u="none" cap="none" strike="noStrike">
                <a:solidFill>
                  <a:srgbClr val="0EA5A4"/>
                </a:solidFill>
                <a:latin typeface="Inter"/>
                <a:ea typeface="Inter"/>
                <a:cs typeface="Inter"/>
                <a:sym typeface="Inter"/>
              </a:rPr>
              <a:t>(≤ 85 cycles)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 txBox="1"/>
          <p:nvPr/>
        </p:nvSpPr>
        <p:spPr>
          <a:xfrm>
            <a:off x="1047902" y="3388766"/>
            <a:ext cx="485820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Immediate action — stop/repair before catastrophic failure.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 txBox="1"/>
          <p:nvPr/>
        </p:nvSpPr>
        <p:spPr>
          <a:xfrm>
            <a:off x="1047902" y="3675888"/>
            <a:ext cx="48582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HIGH </a:t>
            </a:r>
            <a:r>
              <a:rPr b="1" i="0" lang="en-US" sz="11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(86–150 cycles)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 txBox="1"/>
          <p:nvPr/>
        </p:nvSpPr>
        <p:spPr>
          <a:xfrm>
            <a:off x="1047902" y="3932834"/>
            <a:ext cx="485820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Schedule in the next maintenance window; plan parts.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 txBox="1"/>
          <p:nvPr/>
        </p:nvSpPr>
        <p:spPr>
          <a:xfrm>
            <a:off x="1047902" y="4219956"/>
            <a:ext cx="48582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MEDIUM </a:t>
            </a:r>
            <a:r>
              <a:rPr b="1" i="0" lang="en-US" sz="11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(151–280 cycles)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 txBox="1"/>
          <p:nvPr/>
        </p:nvSpPr>
        <p:spPr>
          <a:xfrm>
            <a:off x="1047902" y="4477817"/>
            <a:ext cx="485820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Monitor closely; trend-based review.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 txBox="1"/>
          <p:nvPr/>
        </p:nvSpPr>
        <p:spPr>
          <a:xfrm>
            <a:off x="1047902" y="4764938"/>
            <a:ext cx="48582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SAFE </a:t>
            </a:r>
            <a:r>
              <a:rPr b="1" i="0" lang="en-US" sz="11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(&gt; 280 cycles)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 txBox="1"/>
          <p:nvPr/>
        </p:nvSpPr>
        <p:spPr>
          <a:xfrm>
            <a:off x="1047902" y="5021885"/>
            <a:ext cx="485820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Healthy — routine monitoring only.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7" name="Google Shape;357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90995" y="22860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0"/>
          <p:cNvSpPr txBox="1"/>
          <p:nvPr/>
        </p:nvSpPr>
        <p:spPr>
          <a:xfrm>
            <a:off x="7048195" y="2133295"/>
            <a:ext cx="430591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Band Performance (Evidence)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 txBox="1"/>
          <p:nvPr/>
        </p:nvSpPr>
        <p:spPr>
          <a:xfrm>
            <a:off x="6705295" y="2781605"/>
            <a:ext cx="4439412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OVERALL ACCURACY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 txBox="1"/>
          <p:nvPr/>
        </p:nvSpPr>
        <p:spPr>
          <a:xfrm>
            <a:off x="6705295" y="2987345"/>
            <a:ext cx="4439412" cy="295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0.83 </a:t>
            </a:r>
            <a:r>
              <a:rPr b="1" i="0" lang="en-US" sz="10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(risk bands)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 txBox="1"/>
          <p:nvPr/>
        </p:nvSpPr>
        <p:spPr>
          <a:xfrm>
            <a:off x="6705295" y="3733495"/>
            <a:ext cx="44394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CRITICAL recall: </a:t>
            </a:r>
            <a:r>
              <a:rPr b="1" i="0" lang="en-US" sz="10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0.71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 txBox="1"/>
          <p:nvPr/>
        </p:nvSpPr>
        <p:spPr>
          <a:xfrm>
            <a:off x="6705295" y="3961181"/>
            <a:ext cx="44394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Catches most imminent failures (safety-first).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 txBox="1"/>
          <p:nvPr/>
        </p:nvSpPr>
        <p:spPr>
          <a:xfrm>
            <a:off x="6705295" y="4222699"/>
            <a:ext cx="44394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HIGH precision/recall: </a:t>
            </a:r>
            <a:r>
              <a:rPr b="1" i="0" lang="en-US" sz="1000" u="none" cap="none" strike="noStrike">
                <a:solidFill>
                  <a:srgbClr val="0EA5A4"/>
                </a:solidFill>
                <a:latin typeface="Inter"/>
                <a:ea typeface="Inter"/>
                <a:cs typeface="Inter"/>
                <a:sym typeface="Inter"/>
              </a:rPr>
              <a:t>0.75 / 0.69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 txBox="1"/>
          <p:nvPr/>
        </p:nvSpPr>
        <p:spPr>
          <a:xfrm>
            <a:off x="6705295" y="4450385"/>
            <a:ext cx="44394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Balanced identification of “needs attention soon”.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 txBox="1"/>
          <p:nvPr/>
        </p:nvSpPr>
        <p:spPr>
          <a:xfrm>
            <a:off x="6705295" y="4712818"/>
            <a:ext cx="44394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MEDIUM precision/recall: </a:t>
            </a:r>
            <a:r>
              <a:rPr b="1" i="0" lang="en-US" sz="10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0.85 / 0.96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 txBox="1"/>
          <p:nvPr/>
        </p:nvSpPr>
        <p:spPr>
          <a:xfrm>
            <a:off x="6705295" y="4939589"/>
            <a:ext cx="443941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Strong performance on normal operating conditions.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7" name="Google Shape;367;p10"/>
          <p:cNvPicPr preferRelativeResize="0"/>
          <p:nvPr/>
        </p:nvPicPr>
        <p:blipFill rotWithShape="1">
          <a:blip r:embed="rId12">
            <a:alphaModFix/>
          </a:blip>
          <a:srcRect b="0" l="-133" r="-133" t="0"/>
          <a:stretch/>
        </p:blipFill>
        <p:spPr>
          <a:xfrm>
            <a:off x="1152144" y="5924398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0"/>
          <p:cNvSpPr txBox="1"/>
          <p:nvPr/>
        </p:nvSpPr>
        <p:spPr>
          <a:xfrm>
            <a:off x="1600200" y="5658307"/>
            <a:ext cx="975390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Business impact on the shop floor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 txBox="1"/>
          <p:nvPr/>
        </p:nvSpPr>
        <p:spPr>
          <a:xfrm>
            <a:off x="1600200" y="5946343"/>
            <a:ext cx="975390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Faster triage across machines • fewer surprise breakdowns • better parts planning • safer operations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 txBox="1"/>
          <p:nvPr/>
        </p:nvSpPr>
        <p:spPr>
          <a:xfrm>
            <a:off x="1600200" y="6228893"/>
            <a:ext cx="9753905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A7F3D0"/>
                </a:solidFill>
                <a:latin typeface="Inter"/>
                <a:ea typeface="Inter"/>
                <a:cs typeface="Inter"/>
                <a:sym typeface="Inter"/>
              </a:rPr>
              <a:t>Outcome: maintenance aligned to business priorities (urgent machines first, healthy machines left running)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8" name="Google Shape;378;p11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9" name="Google Shape;379;p11"/>
          <p:cNvPicPr preferRelativeResize="0"/>
          <p:nvPr/>
        </p:nvPicPr>
        <p:blipFill rotWithShape="1">
          <a:blip r:embed="rId4">
            <a:alphaModFix/>
          </a:blip>
          <a:srcRect b="-399" l="0" r="0" t="-399"/>
          <a:stretch/>
        </p:blipFill>
        <p:spPr>
          <a:xfrm>
            <a:off x="761695" y="1676095"/>
            <a:ext cx="10668305" cy="19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0" name="Google Shape;380;p11"/>
          <p:cNvPicPr preferRelativeResize="0"/>
          <p:nvPr/>
        </p:nvPicPr>
        <p:blipFill rotWithShape="1">
          <a:blip r:embed="rId5">
            <a:alphaModFix/>
          </a:blip>
          <a:srcRect b="-3" l="0" r="0" t="-3"/>
          <a:stretch/>
        </p:blipFill>
        <p:spPr>
          <a:xfrm>
            <a:off x="761695" y="1952244"/>
            <a:ext cx="10668305" cy="16194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1" name="Google Shape;381;p11"/>
          <p:cNvPicPr preferRelativeResize="0"/>
          <p:nvPr/>
        </p:nvPicPr>
        <p:blipFill rotWithShape="1">
          <a:blip r:embed="rId6">
            <a:alphaModFix/>
          </a:blip>
          <a:srcRect b="0" l="-13" r="-13" t="0"/>
          <a:stretch/>
        </p:blipFill>
        <p:spPr>
          <a:xfrm>
            <a:off x="761695" y="3733495"/>
            <a:ext cx="10668305" cy="1333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2" name="Google Shape;382;p11"/>
          <p:cNvPicPr preferRelativeResize="0"/>
          <p:nvPr/>
        </p:nvPicPr>
        <p:blipFill rotWithShape="1">
          <a:blip r:embed="rId7">
            <a:alphaModFix/>
          </a:blip>
          <a:srcRect b="0" l="-5" r="-5" t="0"/>
          <a:stretch/>
        </p:blipFill>
        <p:spPr>
          <a:xfrm>
            <a:off x="761695" y="5219395"/>
            <a:ext cx="10668305" cy="1190549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1"/>
          <p:cNvSpPr txBox="1"/>
          <p:nvPr/>
        </p:nvSpPr>
        <p:spPr>
          <a:xfrm>
            <a:off x="761695" y="514807"/>
            <a:ext cx="1085850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Production Readiness &amp; Future Scope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 txBox="1"/>
          <p:nvPr/>
        </p:nvSpPr>
        <p:spPr>
          <a:xfrm>
            <a:off x="761695" y="1067105"/>
            <a:ext cx="107826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How the solution can be operationalized today, plus key constraints and next enhancements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5" name="Google Shape;385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4654" y="2447849"/>
            <a:ext cx="247802" cy="247802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1"/>
          <p:cNvSpPr txBox="1"/>
          <p:nvPr/>
        </p:nvSpPr>
        <p:spPr>
          <a:xfrm>
            <a:off x="1600200" y="2171700"/>
            <a:ext cx="944941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Readiness: practical steps to run on live factory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 txBox="1"/>
          <p:nvPr/>
        </p:nvSpPr>
        <p:spPr>
          <a:xfrm>
            <a:off x="1600200" y="2498141"/>
            <a:ext cx="30486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Data contract &amp; reliability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 txBox="1"/>
          <p:nvPr/>
        </p:nvSpPr>
        <p:spPr>
          <a:xfrm>
            <a:off x="1600200" y="2756002"/>
            <a:ext cx="301020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Input schema 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Missing-value handling (robust imputation)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 txBox="1"/>
          <p:nvPr/>
        </p:nvSpPr>
        <p:spPr>
          <a:xfrm>
            <a:off x="4800600" y="2498141"/>
            <a:ext cx="30486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Consistent scoring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 txBox="1"/>
          <p:nvPr/>
        </p:nvSpPr>
        <p:spPr>
          <a:xfrm>
            <a:off x="4800600" y="2756002"/>
            <a:ext cx="301020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Same feature logic for new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Stable outputs for unseen machines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 txBox="1"/>
          <p:nvPr/>
        </p:nvSpPr>
        <p:spPr>
          <a:xfrm>
            <a:off x="8001000" y="2498141"/>
            <a:ext cx="304861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Monitoring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 txBox="1"/>
          <p:nvPr/>
        </p:nvSpPr>
        <p:spPr>
          <a:xfrm>
            <a:off x="8001000" y="2756002"/>
            <a:ext cx="301020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Track RMSE over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Recall for </a:t>
            </a:r>
            <a:r>
              <a:rPr b="1" i="0" lang="en-US" sz="11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CRITICAL</a:t>
            </a:r>
            <a:r>
              <a:rPr b="0" i="0" lang="en-US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Drift checks (sensor/operating changes)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3" name="Google Shape;393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23798" y="424830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1"/>
          <p:cNvSpPr txBox="1"/>
          <p:nvPr/>
        </p:nvSpPr>
        <p:spPr>
          <a:xfrm>
            <a:off x="1600200" y="3943807"/>
            <a:ext cx="97155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Limitations (known trade-offs)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 txBox="1"/>
          <p:nvPr/>
        </p:nvSpPr>
        <p:spPr>
          <a:xfrm>
            <a:off x="1600200" y="4251046"/>
            <a:ext cx="967801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Conservative bias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~0.39 overprediction rate (safer alerts, more false positives)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New machine classes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model needs retraining/transfer learning if equipment physics differ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6" name="Google Shape;396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23798" y="56957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1"/>
          <p:cNvSpPr txBox="1"/>
          <p:nvPr/>
        </p:nvSpPr>
        <p:spPr>
          <a:xfrm>
            <a:off x="1600200" y="5391302"/>
            <a:ext cx="971550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Future scope (next upgrades)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 txBox="1"/>
          <p:nvPr/>
        </p:nvSpPr>
        <p:spPr>
          <a:xfrm>
            <a:off x="1600200" y="5698541"/>
            <a:ext cx="9678010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Explore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LSTM / sequence models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learn temporal degradation without manual rolling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• Deploy to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edge / IoT gateways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low-latency, near real-time scoring on the factory floor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 txBox="1"/>
          <p:nvPr/>
        </p:nvSpPr>
        <p:spPr>
          <a:xfrm>
            <a:off x="761695" y="6495898"/>
            <a:ext cx="10961827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Operational goal: a reliable “maintenance decision layer” that prioritizes catching imminent failures while staying deployable in real conditions.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7" name="Google Shape;407;p12"/>
          <p:cNvPicPr preferRelativeResize="0"/>
          <p:nvPr/>
        </p:nvPicPr>
        <p:blipFill rotWithShape="1">
          <a:blip r:embed="rId3">
            <a:alphaModFix/>
          </a:blip>
          <a:srcRect b="-1" l="0" r="0" t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8" name="Google Shape;40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95805" y="1429207"/>
            <a:ext cx="80010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9" name="Google Shape;40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098" y="1695298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0" name="Google Shape;410;p12"/>
          <p:cNvPicPr preferRelativeResize="0"/>
          <p:nvPr/>
        </p:nvPicPr>
        <p:blipFill rotWithShape="1">
          <a:blip r:embed="rId6">
            <a:alphaModFix/>
          </a:blip>
          <a:srcRect b="-404" l="0" r="0" t="-404"/>
          <a:stretch/>
        </p:blipFill>
        <p:spPr>
          <a:xfrm>
            <a:off x="4000500" y="4134002"/>
            <a:ext cx="4190695" cy="192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1" name="Google Shape;411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82005" y="186720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2"/>
          <p:cNvSpPr txBox="1"/>
          <p:nvPr/>
        </p:nvSpPr>
        <p:spPr>
          <a:xfrm>
            <a:off x="2286000" y="2343607"/>
            <a:ext cx="7620610" cy="629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600"/>
              <a:buFont typeface="Inter"/>
              <a:buNone/>
            </a:pPr>
            <a:r>
              <a:rPr b="1" i="0" lang="en-US" sz="4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 txBox="1"/>
          <p:nvPr/>
        </p:nvSpPr>
        <p:spPr>
          <a:xfrm>
            <a:off x="2324405" y="3143707"/>
            <a:ext cx="7543800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1500"/>
              <a:buFont typeface="Inter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 txBox="1"/>
          <p:nvPr/>
        </p:nvSpPr>
        <p:spPr>
          <a:xfrm>
            <a:off x="2324405" y="3600907"/>
            <a:ext cx="7543800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Predictive Maintenance (RUL)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 txBox="1"/>
          <p:nvPr/>
        </p:nvSpPr>
        <p:spPr>
          <a:xfrm>
            <a:off x="705002" y="6515100"/>
            <a:ext cx="107826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Capstone Presentation • Remaining Useful Life (RUL) Prediction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2026-03-27T10:45:50Z</dcterms:created>
  <dc:creator>Visual Extract to PPTX Converter</dc:creator>
</cp:coreProperties>
</file>